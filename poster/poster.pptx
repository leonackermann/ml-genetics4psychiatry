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8" userDrawn="1">
          <p15:clr>
            <a:srgbClr val="A4A3A4"/>
          </p15:clr>
        </p15:guide>
        <p15:guide id="2" pos="95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DD2E40-A45C-ED62-04D8-C084C2828F54}" name="ASPASIA LAVAZOU" initials="AL" userId="S::bl02289@uoi.gr::a28ba338-77e1-46e0-a38b-4cb261af65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9A"/>
    <a:srgbClr val="A3BDD8"/>
    <a:srgbClr val="5B69C8"/>
    <a:srgbClr val="E5A400"/>
    <a:srgbClr val="7F91FF"/>
    <a:srgbClr val="7889FF"/>
    <a:srgbClr val="788AFF"/>
    <a:srgbClr val="B53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76" autoAdjust="0"/>
    <p:restoredTop sz="95658"/>
  </p:normalViewPr>
  <p:slideViewPr>
    <p:cSldViewPr snapToGrid="0">
      <p:cViewPr>
        <p:scale>
          <a:sx n="25" d="100"/>
          <a:sy n="25" d="100"/>
        </p:scale>
        <p:origin x="3712" y="264"/>
      </p:cViewPr>
      <p:guideLst>
        <p:guide orient="horz" pos="13478"/>
        <p:guide pos="95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4040" y="19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FFFEB7-DBE5-C7BF-D99C-98BAB8AD92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FBBAD-B0C1-DF51-FEF2-316F69DE77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4CE9C-792F-D946-8C32-48C63AD787B7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46D5A-BF59-DFE2-6206-0C7D5E0BA5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456D9-67D2-BE87-D757-300458699A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57BD7-2758-B742-8A65-CEF26FAA9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4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68A17-F5B0-9947-A68E-E504F8DDB801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8F7EF-9738-584B-8AF7-C546D397E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4BB5B-F53E-05EB-0731-CBE4F94F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9C2A7-2C85-6CF0-37F8-A2DBB48A8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4419A-7E08-5377-6D74-24D9EE3AD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A014D-FB6C-7F4D-D4CB-A886B104F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8F7EF-9738-584B-8AF7-C546D397EB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4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F2886-2014-67EC-1388-B8704F5C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14351-3BA5-5E03-4731-8F18260A5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B9AC5-DA15-7581-E9E5-CEBBA1AB3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37F9-A210-89BD-974E-2FB7B3F05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8F7EF-9738-584B-8AF7-C546D397EB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8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1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7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37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26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1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2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2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2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5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4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74E1D-646D-7145-8AC9-5F33025D44BF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4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0A1B9F-FC83-0360-5CE3-7C8FF422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C6819F6-E21A-7878-C5D6-86D068DAF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0758" y="32001538"/>
            <a:ext cx="7060723" cy="45143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14CDFD-1D77-3899-1449-38F2D8DAA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9182" y="24997093"/>
            <a:ext cx="7318540" cy="5233963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D7407F30-19A7-4108-CBB5-9471D90F7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6762" y="31811614"/>
            <a:ext cx="6502420" cy="3436464"/>
          </a:xfrm>
          <a:prstGeom prst="rect">
            <a:avLst/>
          </a:prstGeom>
        </p:spPr>
      </p:pic>
      <p:sp>
        <p:nvSpPr>
          <p:cNvPr id="110" name="Rounded Rectangle 277">
            <a:extLst>
              <a:ext uri="{FF2B5EF4-FFF2-40B4-BE49-F238E27FC236}">
                <a16:creationId xmlns:a16="http://schemas.microsoft.com/office/drawing/2014/main" id="{85EB8CA0-B86D-8B1E-163E-AEE1B6165160}"/>
              </a:ext>
            </a:extLst>
          </p:cNvPr>
          <p:cNvSpPr/>
          <p:nvPr/>
        </p:nvSpPr>
        <p:spPr>
          <a:xfrm>
            <a:off x="2638433" y="36826155"/>
            <a:ext cx="9679930" cy="456040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7D926CD6-2013-EBD4-3908-94231BB84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029" y="32386506"/>
            <a:ext cx="5181310" cy="439952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53AF6147-86FC-CA10-8D4E-14FA0BBFC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2523" y="25426086"/>
            <a:ext cx="6442198" cy="465269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DB14D85-BD68-FAB7-CBDE-F86304A3E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32523" y="17259905"/>
            <a:ext cx="13734685" cy="468042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FAECC7-FB35-505B-5C20-686C008B85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22481" y="9880412"/>
            <a:ext cx="6812470" cy="4822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624B03-5A37-D9C2-922A-6D00FA9AF36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97" r="6616"/>
          <a:stretch>
            <a:fillRect/>
          </a:stretch>
        </p:blipFill>
        <p:spPr>
          <a:xfrm>
            <a:off x="643922" y="18551924"/>
            <a:ext cx="14369766" cy="4009838"/>
          </a:xfrm>
          <a:prstGeom prst="rect">
            <a:avLst/>
          </a:prstGeom>
        </p:spPr>
      </p:pic>
      <p:sp>
        <p:nvSpPr>
          <p:cNvPr id="39" name="Rectangle : coins arrondis 50">
            <a:extLst>
              <a:ext uri="{FF2B5EF4-FFF2-40B4-BE49-F238E27FC236}">
                <a16:creationId xmlns:a16="http://schemas.microsoft.com/office/drawing/2014/main" id="{42F1461E-A835-AF48-D0C6-0DE01D172D12}"/>
              </a:ext>
            </a:extLst>
          </p:cNvPr>
          <p:cNvSpPr/>
          <p:nvPr/>
        </p:nvSpPr>
        <p:spPr bwMode="auto">
          <a:xfrm>
            <a:off x="15458823" y="7642182"/>
            <a:ext cx="14321020" cy="14706730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29" name="Rectangle : coins arrondis 50">
            <a:extLst>
              <a:ext uri="{FF2B5EF4-FFF2-40B4-BE49-F238E27FC236}">
                <a16:creationId xmlns:a16="http://schemas.microsoft.com/office/drawing/2014/main" id="{B854B7EB-427E-4D7B-ED01-8D08F918E565}"/>
              </a:ext>
            </a:extLst>
          </p:cNvPr>
          <p:cNvSpPr/>
          <p:nvPr/>
        </p:nvSpPr>
        <p:spPr bwMode="auto">
          <a:xfrm>
            <a:off x="643922" y="7684851"/>
            <a:ext cx="14482089" cy="6824047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3FD89-7793-9E5A-D2BC-E05CB006E4F3}"/>
              </a:ext>
            </a:extLst>
          </p:cNvPr>
          <p:cNvSpPr/>
          <p:nvPr/>
        </p:nvSpPr>
        <p:spPr>
          <a:xfrm>
            <a:off x="0" y="2543985"/>
            <a:ext cx="30267276" cy="3995891"/>
          </a:xfrm>
          <a:prstGeom prst="rect">
            <a:avLst/>
          </a:prstGeom>
          <a:solidFill>
            <a:srgbClr val="005A9A"/>
          </a:solidFill>
          <a:ln>
            <a:solidFill>
              <a:srgbClr val="7F9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latin typeface="Helvetica" pitchFamily="2" charset="0"/>
              </a:rPr>
              <a:t>Predicting Psychiatric Illness Risk from Brain Structure</a:t>
            </a:r>
          </a:p>
          <a:p>
            <a:pPr algn="ctr"/>
            <a:r>
              <a:rPr lang="en-US" sz="4400" dirty="0">
                <a:latin typeface="Helvetica" pitchFamily="2" charset="0"/>
              </a:rPr>
              <a:t>Aspasia Lavazou, Raphael Malak, Hugues Aschard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Helvetica" pitchFamily="2" charset="0"/>
              </a:rPr>
              <a:t>Institut Pasteur, Department of Computational Biology, Statistical Genetics Laboratory, Paris, France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072A35-2C08-6E73-B4DA-912BC85E8880}"/>
              </a:ext>
            </a:extLst>
          </p:cNvPr>
          <p:cNvSpPr/>
          <p:nvPr/>
        </p:nvSpPr>
        <p:spPr>
          <a:xfrm>
            <a:off x="720435" y="9506994"/>
            <a:ext cx="6899566" cy="774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b="1" baseline="300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959340-1AB0-9F8A-7088-8BD7618BCB16}"/>
              </a:ext>
            </a:extLst>
          </p:cNvPr>
          <p:cNvSpPr txBox="1"/>
          <p:nvPr/>
        </p:nvSpPr>
        <p:spPr>
          <a:xfrm>
            <a:off x="1306786" y="8285870"/>
            <a:ext cx="1328930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Metagenomic profiling </a:t>
            </a:r>
            <a:r>
              <a:rPr lang="en-US" sz="4000" dirty="0"/>
              <a:t>characterizes the </a:t>
            </a:r>
            <a:r>
              <a:rPr lang="en-US" sz="4000" b="1" dirty="0"/>
              <a:t>gut microbiome </a:t>
            </a:r>
            <a:r>
              <a:rPr lang="en-US" sz="4000" dirty="0"/>
              <a:t>by estimating bacterial species and their abundances. Taxonomic classifiers such as </a:t>
            </a:r>
            <a:r>
              <a:rPr lang="en-US" sz="4000" b="1" dirty="0"/>
              <a:t>Kraken2</a:t>
            </a:r>
            <a:r>
              <a:rPr lang="en-US" sz="4000" dirty="0"/>
              <a:t> and </a:t>
            </a:r>
            <a:r>
              <a:rPr lang="en-US" sz="4000" b="1" dirty="0"/>
              <a:t>MetaPhlAn4</a:t>
            </a:r>
            <a:r>
              <a:rPr lang="en-US" sz="4000" dirty="0"/>
              <a:t> assign sequencing reads to known taxa, while taxonomy-free MWAS approaches use </a:t>
            </a:r>
            <a:r>
              <a:rPr lang="en-US" sz="4000" b="1" dirty="0"/>
              <a:t>k-mers</a:t>
            </a:r>
            <a:r>
              <a:rPr lang="en-US" sz="4000" dirty="0"/>
              <a:t>, short DNA words capturing single nucleotide polymorphisms, insertion or deletion events and gene presence–absence. Here, we investigate whether k-mer-based profiles can reproduce </a:t>
            </a:r>
            <a:r>
              <a:rPr lang="en-US" sz="4000" b="1" dirty="0"/>
              <a:t>species abundance </a:t>
            </a:r>
            <a:r>
              <a:rPr lang="en-US" sz="4000" dirty="0"/>
              <a:t>patterns obtained from established classifiers.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AC1EF8C-7716-ED6A-B678-B54B2B935F64}"/>
              </a:ext>
            </a:extLst>
          </p:cNvPr>
          <p:cNvSpPr/>
          <p:nvPr/>
        </p:nvSpPr>
        <p:spPr>
          <a:xfrm>
            <a:off x="1166213" y="7217542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INTRODUCTION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9CE8272-BBE6-8A92-3AAD-A3928763337E}"/>
              </a:ext>
            </a:extLst>
          </p:cNvPr>
          <p:cNvSpPr/>
          <p:nvPr/>
        </p:nvSpPr>
        <p:spPr>
          <a:xfrm>
            <a:off x="16233673" y="7257696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METHODS</a:t>
            </a:r>
          </a:p>
        </p:txBody>
      </p:sp>
      <p:sp>
        <p:nvSpPr>
          <p:cNvPr id="37" name="Rectangle : coins arrondis 50">
            <a:extLst>
              <a:ext uri="{FF2B5EF4-FFF2-40B4-BE49-F238E27FC236}">
                <a16:creationId xmlns:a16="http://schemas.microsoft.com/office/drawing/2014/main" id="{269ED782-193C-6F7E-6F37-3B7F1A4C87D6}"/>
              </a:ext>
            </a:extLst>
          </p:cNvPr>
          <p:cNvSpPr/>
          <p:nvPr/>
        </p:nvSpPr>
        <p:spPr bwMode="auto">
          <a:xfrm>
            <a:off x="695407" y="15635996"/>
            <a:ext cx="14256953" cy="6712916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481E9D-FA67-0E11-F7C3-CC3215B88314}"/>
              </a:ext>
            </a:extLst>
          </p:cNvPr>
          <p:cNvSpPr txBox="1"/>
          <p:nvPr/>
        </p:nvSpPr>
        <p:spPr>
          <a:xfrm>
            <a:off x="695407" y="16508896"/>
            <a:ext cx="141539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dirty="0"/>
              <a:t>To evaluate whether species abundance profiles reconstructed from k-mer data  agree with taxonomic profiles generated by established classifiers like Kraken2 and MetaphlAn4.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6DBB8A6-1822-4564-5B5E-3CEB6952250A}"/>
              </a:ext>
            </a:extLst>
          </p:cNvPr>
          <p:cNvSpPr/>
          <p:nvPr/>
        </p:nvSpPr>
        <p:spPr>
          <a:xfrm>
            <a:off x="975341" y="15295062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OBJECTIVE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A0E3FAE-D89D-53F8-074F-089568F4EEB7}"/>
              </a:ext>
            </a:extLst>
          </p:cNvPr>
          <p:cNvSpPr/>
          <p:nvPr/>
        </p:nvSpPr>
        <p:spPr>
          <a:xfrm>
            <a:off x="19249082" y="8501878"/>
            <a:ext cx="5874337" cy="692958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pitchFamily="2" charset="0"/>
              </a:rPr>
              <a:t>K-MER PROFILING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9894C55-2938-A6D5-7407-A59162685DCF}"/>
              </a:ext>
            </a:extLst>
          </p:cNvPr>
          <p:cNvSpPr/>
          <p:nvPr/>
        </p:nvSpPr>
        <p:spPr>
          <a:xfrm>
            <a:off x="19249082" y="16123073"/>
            <a:ext cx="7471718" cy="692957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pitchFamily="2" charset="0"/>
              </a:rPr>
              <a:t>REFERENCE COMPARISON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A42204B1-1AC8-8D83-0E53-2C0A43046B4A}"/>
              </a:ext>
            </a:extLst>
          </p:cNvPr>
          <p:cNvSpPr/>
          <p:nvPr/>
        </p:nvSpPr>
        <p:spPr bwMode="auto">
          <a:xfrm>
            <a:off x="720435" y="22708437"/>
            <a:ext cx="29059408" cy="14749679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CA3441C-ADDF-1FD9-D551-702D6CF89973}"/>
              </a:ext>
            </a:extLst>
          </p:cNvPr>
          <p:cNvSpPr/>
          <p:nvPr/>
        </p:nvSpPr>
        <p:spPr>
          <a:xfrm>
            <a:off x="1166213" y="22622506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RESULTS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CA7A62-AEBB-026C-D9CF-E8B3D5B18603}"/>
              </a:ext>
            </a:extLst>
          </p:cNvPr>
          <p:cNvSpPr txBox="1"/>
          <p:nvPr/>
        </p:nvSpPr>
        <p:spPr>
          <a:xfrm>
            <a:off x="16055211" y="38779742"/>
            <a:ext cx="132893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 Use of new data sets that would serve as the ground truth, to compare the three methods more accurately. </a:t>
            </a:r>
          </a:p>
          <a:p>
            <a:pPr algn="just"/>
            <a:endParaRPr lang="en-US" sz="4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993247-ADE9-7698-3130-1B36FD3CAADB}"/>
              </a:ext>
            </a:extLst>
          </p:cNvPr>
          <p:cNvSpPr txBox="1"/>
          <p:nvPr/>
        </p:nvSpPr>
        <p:spPr>
          <a:xfrm>
            <a:off x="1166213" y="40670593"/>
            <a:ext cx="132893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 Reducing taxonomic ambiguity by keeping only unique k-mers  improves agreement between our state-of-the-art method and the established taxonomic classifiers.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CDA42-48DE-8696-0E1F-40DEC707D107}"/>
              </a:ext>
            </a:extLst>
          </p:cNvPr>
          <p:cNvSpPr txBox="1"/>
          <p:nvPr/>
        </p:nvSpPr>
        <p:spPr>
          <a:xfrm>
            <a:off x="1234213" y="38706883"/>
            <a:ext cx="132206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 Kraken2 and MetaphlAn4 show high mutual agreement that is not reproducible even after number of reads and genome length corrections of the Blast matrices.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23716-BB4B-EBBE-6E4F-729DB40FD182}"/>
              </a:ext>
            </a:extLst>
          </p:cNvPr>
          <p:cNvSpPr txBox="1"/>
          <p:nvPr/>
        </p:nvSpPr>
        <p:spPr>
          <a:xfrm>
            <a:off x="16044259" y="40250253"/>
            <a:ext cx="13289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Application of new corrections to our k-mer based method  in order to produce more applicable results.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2FC7A2-0B68-C0E3-69CB-49218B1E59A0}"/>
              </a:ext>
            </a:extLst>
          </p:cNvPr>
          <p:cNvSpPr/>
          <p:nvPr/>
        </p:nvSpPr>
        <p:spPr>
          <a:xfrm>
            <a:off x="-213206" y="23499000"/>
            <a:ext cx="10904730" cy="8501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Benchmark agreement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98174DF-A493-911D-2F42-1C00406E2CEB}"/>
              </a:ext>
            </a:extLst>
          </p:cNvPr>
          <p:cNvSpPr/>
          <p:nvPr/>
        </p:nvSpPr>
        <p:spPr>
          <a:xfrm>
            <a:off x="15013688" y="23527546"/>
            <a:ext cx="10779241" cy="71325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Read-count correction</a:t>
            </a:r>
          </a:p>
        </p:txBody>
      </p:sp>
      <p:pic>
        <p:nvPicPr>
          <p:cNvPr id="2" name="Picture 1" descr="Fichier:Institut Pasteur (logo).svg — Wikipédia">
            <a:extLst>
              <a:ext uri="{FF2B5EF4-FFF2-40B4-BE49-F238E27FC236}">
                <a16:creationId xmlns:a16="http://schemas.microsoft.com/office/drawing/2014/main" id="{F6413B3C-A8B3-3BA9-0E4F-A36C946DA9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34500" y="185552"/>
            <a:ext cx="6562342" cy="1910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73BF4F-523F-61B9-407C-5FEEA8842CED}"/>
              </a:ext>
            </a:extLst>
          </p:cNvPr>
          <p:cNvSpPr txBox="1"/>
          <p:nvPr/>
        </p:nvSpPr>
        <p:spPr>
          <a:xfrm>
            <a:off x="15884645" y="9683309"/>
            <a:ext cx="69186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dirty="0"/>
              <a:t>97M+ k-mer abundances from 938 gut microbiome samples were mapped to species-level taxonomic IDs using </a:t>
            </a:r>
            <a:r>
              <a:rPr lang="en-US" sz="4000" b="1" dirty="0"/>
              <a:t>BLAST</a:t>
            </a:r>
            <a:r>
              <a:rPr lang="en-US" sz="4000" dirty="0"/>
              <a:t> against NCBI GenBank. Species abundance matrices were reconstructed using </a:t>
            </a:r>
            <a:r>
              <a:rPr lang="en-US" sz="4000" b="1" dirty="0"/>
              <a:t>sum</a:t>
            </a:r>
            <a:r>
              <a:rPr lang="en-US" sz="4000" dirty="0"/>
              <a:t> and </a:t>
            </a:r>
            <a:r>
              <a:rPr lang="en-US" sz="4000" b="1" dirty="0"/>
              <a:t>mean</a:t>
            </a:r>
            <a:r>
              <a:rPr lang="en-US" sz="4000" dirty="0"/>
              <a:t>-based aggregation strategies.</a:t>
            </a:r>
            <a:endParaRPr lang="el-GR" sz="4000" dirty="0"/>
          </a:p>
        </p:txBody>
      </p:sp>
      <p:sp>
        <p:nvSpPr>
          <p:cNvPr id="66" name="Rectangle : coins arrondis 50">
            <a:extLst>
              <a:ext uri="{FF2B5EF4-FFF2-40B4-BE49-F238E27FC236}">
                <a16:creationId xmlns:a16="http://schemas.microsoft.com/office/drawing/2014/main" id="{AC6582C4-C51C-BA70-2C94-BFBE3B49E1F5}"/>
              </a:ext>
            </a:extLst>
          </p:cNvPr>
          <p:cNvSpPr/>
          <p:nvPr/>
        </p:nvSpPr>
        <p:spPr bwMode="auto">
          <a:xfrm>
            <a:off x="695407" y="38244561"/>
            <a:ext cx="14308438" cy="4365024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67" name="Rectangle : coins arrondis 50">
            <a:extLst>
              <a:ext uri="{FF2B5EF4-FFF2-40B4-BE49-F238E27FC236}">
                <a16:creationId xmlns:a16="http://schemas.microsoft.com/office/drawing/2014/main" id="{707D5243-4213-5665-FAE7-27DA9A92B3B5}"/>
              </a:ext>
            </a:extLst>
          </p:cNvPr>
          <p:cNvSpPr/>
          <p:nvPr/>
        </p:nvSpPr>
        <p:spPr bwMode="auto">
          <a:xfrm>
            <a:off x="15832523" y="38183743"/>
            <a:ext cx="13947319" cy="3954857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6844A6F-3599-25FA-E592-FA04FF10E40D}"/>
              </a:ext>
            </a:extLst>
          </p:cNvPr>
          <p:cNvSpPr/>
          <p:nvPr/>
        </p:nvSpPr>
        <p:spPr>
          <a:xfrm>
            <a:off x="16131103" y="37849579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NEXT STEPS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3EE9723-0DC2-B038-A639-05E12CC48E3C}"/>
              </a:ext>
            </a:extLst>
          </p:cNvPr>
          <p:cNvSpPr/>
          <p:nvPr/>
        </p:nvSpPr>
        <p:spPr>
          <a:xfrm>
            <a:off x="975341" y="37820277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CONCLUSIONS</a:t>
            </a:r>
          </a:p>
        </p:txBody>
      </p:sp>
      <p:cxnSp>
        <p:nvCxnSpPr>
          <p:cNvPr id="69" name="Connector 141">
            <a:extLst>
              <a:ext uri="{FF2B5EF4-FFF2-40B4-BE49-F238E27FC236}">
                <a16:creationId xmlns:a16="http://schemas.microsoft.com/office/drawing/2014/main" id="{5C8C52DF-CBDC-214F-A84D-F58765C85718}"/>
              </a:ext>
            </a:extLst>
          </p:cNvPr>
          <p:cNvCxnSpPr>
            <a:cxnSpLocks/>
          </p:cNvCxnSpPr>
          <p:nvPr/>
        </p:nvCxnSpPr>
        <p:spPr>
          <a:xfrm flipV="1">
            <a:off x="1234213" y="31028261"/>
            <a:ext cx="28099353" cy="54336"/>
          </a:xfrm>
          <a:prstGeom prst="line">
            <a:avLst/>
          </a:prstGeom>
          <a:ln w="8890">
            <a:solidFill>
              <a:srgbClr val="5B6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140">
            <a:extLst>
              <a:ext uri="{FF2B5EF4-FFF2-40B4-BE49-F238E27FC236}">
                <a16:creationId xmlns:a16="http://schemas.microsoft.com/office/drawing/2014/main" id="{A7199BC4-007C-D033-EC3D-E21AF4560700}"/>
              </a:ext>
            </a:extLst>
          </p:cNvPr>
          <p:cNvCxnSpPr>
            <a:cxnSpLocks/>
          </p:cNvCxnSpPr>
          <p:nvPr/>
        </p:nvCxnSpPr>
        <p:spPr>
          <a:xfrm flipH="1">
            <a:off x="15755146" y="23438162"/>
            <a:ext cx="10955" cy="13077682"/>
          </a:xfrm>
          <a:prstGeom prst="line">
            <a:avLst/>
          </a:prstGeom>
          <a:ln w="8890">
            <a:solidFill>
              <a:srgbClr val="5B6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7233E892-CA76-B49D-BE79-7D8CA0EDDAA8}"/>
              </a:ext>
            </a:extLst>
          </p:cNvPr>
          <p:cNvSpPr/>
          <p:nvPr/>
        </p:nvSpPr>
        <p:spPr>
          <a:xfrm>
            <a:off x="1625676" y="23651563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BDDC6F-7901-9FCA-4F38-731F8B3EB2C1}"/>
              </a:ext>
            </a:extLst>
          </p:cNvPr>
          <p:cNvSpPr txBox="1"/>
          <p:nvPr/>
        </p:nvSpPr>
        <p:spPr>
          <a:xfrm>
            <a:off x="1739918" y="23629801"/>
            <a:ext cx="3861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1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3E7EDF-6B27-B7BD-1702-9BB449E9C343}"/>
              </a:ext>
            </a:extLst>
          </p:cNvPr>
          <p:cNvSpPr txBox="1"/>
          <p:nvPr/>
        </p:nvSpPr>
        <p:spPr>
          <a:xfrm>
            <a:off x="2098576" y="24353204"/>
            <a:ext cx="1142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Pearson Correlation between Kraken2 and MetaphlAn4</a:t>
            </a:r>
            <a:endParaRPr lang="el-GR" sz="3600" dirty="0"/>
          </a:p>
        </p:txBody>
      </p:sp>
      <p:sp>
        <p:nvSpPr>
          <p:cNvPr id="85" name="Rounded Rectangle 277">
            <a:extLst>
              <a:ext uri="{FF2B5EF4-FFF2-40B4-BE49-F238E27FC236}">
                <a16:creationId xmlns:a16="http://schemas.microsoft.com/office/drawing/2014/main" id="{310A7B90-866B-0655-A13A-2C1AE26C56CA}"/>
              </a:ext>
            </a:extLst>
          </p:cNvPr>
          <p:cNvSpPr/>
          <p:nvPr/>
        </p:nvSpPr>
        <p:spPr>
          <a:xfrm>
            <a:off x="1157306" y="30406977"/>
            <a:ext cx="13976331" cy="566709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D3469C-B2C2-FC14-D322-F3496A4FDE0E}"/>
              </a:ext>
            </a:extLst>
          </p:cNvPr>
          <p:cNvSpPr txBox="1"/>
          <p:nvPr/>
        </p:nvSpPr>
        <p:spPr>
          <a:xfrm>
            <a:off x="1306786" y="30353861"/>
            <a:ext cx="1482431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Kraken2 and MetaphlAn4 show </a:t>
            </a:r>
            <a:r>
              <a:rPr lang="en-US" sz="3400" b="1" dirty="0">
                <a:solidFill>
                  <a:srgbClr val="5B69C8"/>
                </a:solidFill>
              </a:rPr>
              <a:t>high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/>
              <a:t>agreement</a:t>
            </a:r>
            <a:r>
              <a:rPr lang="en-US" sz="3400" dirty="0">
                <a:solidFill>
                  <a:srgbClr val="5B69C8"/>
                </a:solidFill>
              </a:rPr>
              <a:t> across the 938 samples.</a:t>
            </a:r>
            <a:endParaRPr lang="el-GR" sz="3400" dirty="0">
              <a:solidFill>
                <a:srgbClr val="5B69C8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94FAE70-CF50-F98B-8AC4-00625F5B4C8F}"/>
              </a:ext>
            </a:extLst>
          </p:cNvPr>
          <p:cNvSpPr/>
          <p:nvPr/>
        </p:nvSpPr>
        <p:spPr>
          <a:xfrm>
            <a:off x="16730912" y="23629801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5D2FC3B-1259-ABE6-02C0-E39B959E9B04}"/>
              </a:ext>
            </a:extLst>
          </p:cNvPr>
          <p:cNvSpPr txBox="1"/>
          <p:nvPr/>
        </p:nvSpPr>
        <p:spPr>
          <a:xfrm>
            <a:off x="16873406" y="23586812"/>
            <a:ext cx="577085" cy="587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E628C4F-3C71-1A1E-C0A2-728A6335078D}"/>
              </a:ext>
            </a:extLst>
          </p:cNvPr>
          <p:cNvSpPr txBox="1"/>
          <p:nvPr/>
        </p:nvSpPr>
        <p:spPr>
          <a:xfrm>
            <a:off x="17322210" y="24353203"/>
            <a:ext cx="1142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Each individual row was multiplied by its read count. </a:t>
            </a:r>
            <a:endParaRPr lang="el-GR" sz="3600" dirty="0"/>
          </a:p>
        </p:txBody>
      </p:sp>
      <p:sp>
        <p:nvSpPr>
          <p:cNvPr id="95" name="Rounded Rectangle 277">
            <a:extLst>
              <a:ext uri="{FF2B5EF4-FFF2-40B4-BE49-F238E27FC236}">
                <a16:creationId xmlns:a16="http://schemas.microsoft.com/office/drawing/2014/main" id="{660A09C4-9CE1-3853-52A4-C60E06362F42}"/>
              </a:ext>
            </a:extLst>
          </p:cNvPr>
          <p:cNvSpPr/>
          <p:nvPr/>
        </p:nvSpPr>
        <p:spPr>
          <a:xfrm>
            <a:off x="16409521" y="30460465"/>
            <a:ext cx="12967761" cy="487616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3AA5352-1CE2-FC11-1F1F-FFA9548145B6}"/>
              </a:ext>
            </a:extLst>
          </p:cNvPr>
          <p:cNvSpPr txBox="1"/>
          <p:nvPr/>
        </p:nvSpPr>
        <p:spPr>
          <a:xfrm>
            <a:off x="16676750" y="30390559"/>
            <a:ext cx="1465779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Correcting by </a:t>
            </a:r>
            <a:r>
              <a:rPr lang="en-US" sz="3400" dirty="0">
                <a:solidFill>
                  <a:srgbClr val="5B69C8"/>
                </a:solidFill>
              </a:rPr>
              <a:t>number of reads </a:t>
            </a:r>
            <a:r>
              <a:rPr lang="en-US" sz="3400" b="1" dirty="0">
                <a:solidFill>
                  <a:srgbClr val="5B69C8"/>
                </a:solidFill>
              </a:rPr>
              <a:t>doesn’t improve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 agreement.</a:t>
            </a:r>
            <a:endParaRPr lang="el-GR" sz="3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38A903E0-4F9B-2FD3-361C-7A85604293DD}"/>
              </a:ext>
            </a:extLst>
          </p:cNvPr>
          <p:cNvSpPr/>
          <p:nvPr/>
        </p:nvSpPr>
        <p:spPr>
          <a:xfrm>
            <a:off x="1625675" y="31219863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C59605-59EF-4BB4-53C1-A80C1C22DB96}"/>
              </a:ext>
            </a:extLst>
          </p:cNvPr>
          <p:cNvSpPr txBox="1"/>
          <p:nvPr/>
        </p:nvSpPr>
        <p:spPr>
          <a:xfrm>
            <a:off x="1756775" y="31183506"/>
            <a:ext cx="577085" cy="587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3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103" name="Rounded Rectangle 9">
            <a:extLst>
              <a:ext uri="{FF2B5EF4-FFF2-40B4-BE49-F238E27FC236}">
                <a16:creationId xmlns:a16="http://schemas.microsoft.com/office/drawing/2014/main" id="{5A597CFF-B89B-8316-6FFA-395D28B30419}"/>
              </a:ext>
            </a:extLst>
          </p:cNvPr>
          <p:cNvSpPr/>
          <p:nvPr/>
        </p:nvSpPr>
        <p:spPr>
          <a:xfrm>
            <a:off x="251099" y="31070862"/>
            <a:ext cx="10904730" cy="8501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Genome-length correction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1271918-A56E-4DDF-EA75-3223C2CBCBBE}"/>
              </a:ext>
            </a:extLst>
          </p:cNvPr>
          <p:cNvSpPr txBox="1"/>
          <p:nvPr/>
        </p:nvSpPr>
        <p:spPr>
          <a:xfrm>
            <a:off x="2130925" y="31700047"/>
            <a:ext cx="12862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Each species column was divided by its median genome length. </a:t>
            </a:r>
            <a:endParaRPr lang="el-GR" sz="36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E0A3DF6-3EFA-C0C1-F9B0-444D9C8D20A4}"/>
              </a:ext>
            </a:extLst>
          </p:cNvPr>
          <p:cNvSpPr txBox="1"/>
          <p:nvPr/>
        </p:nvSpPr>
        <p:spPr>
          <a:xfrm>
            <a:off x="2969975" y="36772584"/>
            <a:ext cx="94166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rgbClr val="5B69C8"/>
                </a:solidFill>
              </a:rPr>
              <a:t>Genome-length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scaling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b="1" dirty="0">
                <a:solidFill>
                  <a:srgbClr val="5B69C8"/>
                </a:solidFill>
              </a:rPr>
              <a:t>worsens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agreement. </a:t>
            </a:r>
            <a:endParaRPr lang="el-GR" sz="3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EFFEF1C-1D2B-0EB2-0E71-EC4A55AD67D9}"/>
              </a:ext>
            </a:extLst>
          </p:cNvPr>
          <p:cNvSpPr/>
          <p:nvPr/>
        </p:nvSpPr>
        <p:spPr>
          <a:xfrm>
            <a:off x="16676750" y="31297468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201F753-0A37-5FC9-7722-86B3D7146E1A}"/>
              </a:ext>
            </a:extLst>
          </p:cNvPr>
          <p:cNvSpPr txBox="1"/>
          <p:nvPr/>
        </p:nvSpPr>
        <p:spPr>
          <a:xfrm>
            <a:off x="16792373" y="31262426"/>
            <a:ext cx="577085" cy="587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4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114" name="Rounded Rectangle 9">
            <a:extLst>
              <a:ext uri="{FF2B5EF4-FFF2-40B4-BE49-F238E27FC236}">
                <a16:creationId xmlns:a16="http://schemas.microsoft.com/office/drawing/2014/main" id="{74F003F5-D499-C5A2-7D7A-E51FC9639112}"/>
              </a:ext>
            </a:extLst>
          </p:cNvPr>
          <p:cNvSpPr/>
          <p:nvPr/>
        </p:nvSpPr>
        <p:spPr>
          <a:xfrm>
            <a:off x="15274155" y="31180765"/>
            <a:ext cx="8377534" cy="7999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Unique k-mers 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D01CBE4A-12BF-CF68-F7C3-191CBF5D49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28819" y="35054195"/>
            <a:ext cx="6051399" cy="1907291"/>
          </a:xfrm>
          <a:prstGeom prst="rect">
            <a:avLst/>
          </a:prstGeom>
        </p:spPr>
      </p:pic>
      <p:sp>
        <p:nvSpPr>
          <p:cNvPr id="120" name="Rounded Rectangle 277">
            <a:extLst>
              <a:ext uri="{FF2B5EF4-FFF2-40B4-BE49-F238E27FC236}">
                <a16:creationId xmlns:a16="http://schemas.microsoft.com/office/drawing/2014/main" id="{8D73DA92-510F-4837-4C22-E51081A359DE}"/>
              </a:ext>
            </a:extLst>
          </p:cNvPr>
          <p:cNvSpPr/>
          <p:nvPr/>
        </p:nvSpPr>
        <p:spPr>
          <a:xfrm>
            <a:off x="16404567" y="36885314"/>
            <a:ext cx="10671834" cy="394271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3AAA074-9086-702F-D766-C5274C242866}"/>
              </a:ext>
            </a:extLst>
          </p:cNvPr>
          <p:cNvSpPr txBox="1"/>
          <p:nvPr/>
        </p:nvSpPr>
        <p:spPr>
          <a:xfrm>
            <a:off x="16729378" y="36772584"/>
            <a:ext cx="136700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Keeping</a:t>
            </a:r>
            <a:r>
              <a:rPr lang="en-US" sz="3400" dirty="0">
                <a:solidFill>
                  <a:srgbClr val="5B69C8"/>
                </a:solidFill>
              </a:rPr>
              <a:t> only unique k-mers </a:t>
            </a:r>
            <a:r>
              <a:rPr lang="en-US" sz="3400" b="1" dirty="0">
                <a:solidFill>
                  <a:srgbClr val="5B69C8"/>
                </a:solidFill>
              </a:rPr>
              <a:t>improves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agreement.  </a:t>
            </a:r>
            <a:endParaRPr lang="el-GR" sz="3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A4EF0-9927-8353-21DB-08CAE250B9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6213" y="25096711"/>
            <a:ext cx="7289858" cy="5134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D43CA-8903-9B87-DC2D-7DB0C94D3C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6072" y="25059911"/>
            <a:ext cx="7036356" cy="48860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AE079A-7880-5BC1-EB07-4A427C2689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1216" y="32340201"/>
            <a:ext cx="7251626" cy="440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6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F055-BD9F-BD36-8613-01F4DA71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>
            <a:extLst>
              <a:ext uri="{FF2B5EF4-FFF2-40B4-BE49-F238E27FC236}">
                <a16:creationId xmlns:a16="http://schemas.microsoft.com/office/drawing/2014/main" id="{70AA3FF7-FE0A-549C-3BF5-EDE478312095}"/>
              </a:ext>
            </a:extLst>
          </p:cNvPr>
          <p:cNvSpPr/>
          <p:nvPr/>
        </p:nvSpPr>
        <p:spPr>
          <a:xfrm>
            <a:off x="23498725" y="15121611"/>
            <a:ext cx="6119446" cy="2225040"/>
          </a:xfrm>
          <a:prstGeom prst="rect">
            <a:avLst/>
          </a:prstGeom>
          <a:solidFill>
            <a:srgbClr val="005A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71A929FE-EEF5-D1F9-9DC3-76A3A15EF4E4}"/>
              </a:ext>
            </a:extLst>
          </p:cNvPr>
          <p:cNvSpPr/>
          <p:nvPr/>
        </p:nvSpPr>
        <p:spPr>
          <a:xfrm>
            <a:off x="988617" y="15285914"/>
            <a:ext cx="6119446" cy="2225040"/>
          </a:xfrm>
          <a:prstGeom prst="rect">
            <a:avLst/>
          </a:prstGeom>
          <a:solidFill>
            <a:srgbClr val="005A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E59B8C4-3851-37E7-D725-2578F7B8C843}"/>
              </a:ext>
            </a:extLst>
          </p:cNvPr>
          <p:cNvSpPr/>
          <p:nvPr/>
        </p:nvSpPr>
        <p:spPr>
          <a:xfrm>
            <a:off x="12073913" y="8855731"/>
            <a:ext cx="6119446" cy="2225040"/>
          </a:xfrm>
          <a:prstGeom prst="rect">
            <a:avLst/>
          </a:prstGeom>
          <a:solidFill>
            <a:srgbClr val="005A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74E6515D-829B-28BF-92B1-136C6397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651" b="15253"/>
          <a:stretch>
            <a:fillRect/>
          </a:stretch>
        </p:blipFill>
        <p:spPr>
          <a:xfrm>
            <a:off x="11945049" y="17183264"/>
            <a:ext cx="9199975" cy="33109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31762A-854A-D5AB-149F-3493E285DE49}"/>
              </a:ext>
            </a:extLst>
          </p:cNvPr>
          <p:cNvSpPr/>
          <p:nvPr/>
        </p:nvSpPr>
        <p:spPr>
          <a:xfrm>
            <a:off x="0" y="2212315"/>
            <a:ext cx="30267275" cy="5616705"/>
          </a:xfrm>
          <a:prstGeom prst="rect">
            <a:avLst/>
          </a:prstGeom>
          <a:solidFill>
            <a:srgbClr val="005A9A"/>
          </a:solidFill>
          <a:ln>
            <a:solidFill>
              <a:srgbClr val="7F9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An explainable Machine Learning framework for identifying genetically informed neuroimaging phenotypes in neuropsychiatric disorders</a:t>
            </a:r>
          </a:p>
          <a:p>
            <a:pPr algn="ctr"/>
            <a:endParaRPr lang="en-US" sz="1600" dirty="0">
              <a:latin typeface="Helvetica" pitchFamily="2" charset="0"/>
            </a:endParaRPr>
          </a:p>
          <a:p>
            <a:pPr algn="ctr"/>
            <a:r>
              <a:rPr lang="en-US" sz="4000" dirty="0">
                <a:latin typeface="Helvetica" pitchFamily="2" charset="0"/>
              </a:rPr>
              <a:t>Leon Ackermann</a:t>
            </a:r>
            <a:r>
              <a:rPr lang="en-US" sz="4000" baseline="30000" dirty="0">
                <a:latin typeface="Helvetica" pitchFamily="2" charset="0"/>
              </a:rPr>
              <a:t>1,2</a:t>
            </a:r>
            <a:r>
              <a:rPr lang="en-US" sz="4000" dirty="0">
                <a:latin typeface="Helvetica" pitchFamily="2" charset="0"/>
              </a:rPr>
              <a:t>, Simeon Tsang</a:t>
            </a:r>
            <a:r>
              <a:rPr lang="en-US" sz="4000" baseline="30000" dirty="0">
                <a:latin typeface="Helvetica" pitchFamily="2" charset="0"/>
              </a:rPr>
              <a:t>1</a:t>
            </a:r>
            <a:r>
              <a:rPr lang="en-US" sz="4000" dirty="0">
                <a:latin typeface="Helvetica" pitchFamily="2" charset="0"/>
              </a:rPr>
              <a:t>, Antoine Auvergne</a:t>
            </a:r>
            <a:r>
              <a:rPr lang="en-US" sz="4000" baseline="30000" dirty="0">
                <a:latin typeface="Helvetica" pitchFamily="2" charset="0"/>
              </a:rPr>
              <a:t>1</a:t>
            </a:r>
            <a:r>
              <a:rPr lang="en-US" sz="4000" dirty="0">
                <a:latin typeface="Helvetica" pitchFamily="2" charset="0"/>
              </a:rPr>
              <a:t>, Roberto Toro</a:t>
            </a:r>
            <a:r>
              <a:rPr lang="en-US" sz="4000" baseline="30000" dirty="0">
                <a:latin typeface="Helvetica" pitchFamily="2" charset="0"/>
              </a:rPr>
              <a:t>1</a:t>
            </a:r>
            <a:r>
              <a:rPr lang="en-US" sz="4000" dirty="0">
                <a:latin typeface="Helvetica" pitchFamily="2" charset="0"/>
              </a:rPr>
              <a:t>, Leo Henches</a:t>
            </a:r>
            <a:r>
              <a:rPr lang="en-US" sz="4000" baseline="30000" dirty="0">
                <a:latin typeface="Helvetica" pitchFamily="2" charset="0"/>
              </a:rPr>
              <a:t>1</a:t>
            </a:r>
            <a:r>
              <a:rPr lang="en-US" sz="4000" dirty="0">
                <a:latin typeface="Helvetica" pitchFamily="2" charset="0"/>
              </a:rPr>
              <a:t>, Daniel Racoceanu</a:t>
            </a:r>
            <a:r>
              <a:rPr lang="en-US" sz="4000" baseline="30000" dirty="0">
                <a:latin typeface="Helvetica" pitchFamily="2" charset="0"/>
              </a:rPr>
              <a:t>2,3</a:t>
            </a:r>
            <a:r>
              <a:rPr lang="en-US" sz="4000" dirty="0">
                <a:latin typeface="Helvetica" pitchFamily="2" charset="0"/>
              </a:rPr>
              <a:t>, Hugues Aschard</a:t>
            </a:r>
            <a:r>
              <a:rPr lang="en-US" sz="4000" baseline="30000" dirty="0">
                <a:latin typeface="Helvetica" pitchFamily="2" charset="0"/>
              </a:rPr>
              <a:t>1</a:t>
            </a:r>
            <a:r>
              <a:rPr lang="en-US" sz="4000" dirty="0">
                <a:latin typeface="Helvetica" pitchFamily="2" charset="0"/>
              </a:rPr>
              <a:t>.</a:t>
            </a:r>
          </a:p>
          <a:p>
            <a:pPr algn="ctr"/>
            <a:endParaRPr lang="en-US" sz="3200" baseline="30000" dirty="0">
              <a:latin typeface="Helvetica" pitchFamily="2" charset="0"/>
            </a:endParaRPr>
          </a:p>
          <a:p>
            <a:pPr algn="ctr"/>
            <a:r>
              <a:rPr lang="en-US" sz="3200" baseline="30000" dirty="0">
                <a:latin typeface="Helvetica" pitchFamily="2" charset="0"/>
              </a:rPr>
              <a:t>1</a:t>
            </a:r>
            <a:r>
              <a:rPr lang="en-US" sz="3200" dirty="0">
                <a:latin typeface="Helvetica" pitchFamily="2" charset="0"/>
              </a:rPr>
              <a:t>Institut Pasteur, Université Paris Cité, Department of Computational Biology, Paris, France,</a:t>
            </a:r>
          </a:p>
          <a:p>
            <a:pPr algn="ctr"/>
            <a:r>
              <a:rPr lang="en-US" sz="3200" baseline="30000" dirty="0">
                <a:latin typeface="Helvetica" pitchFamily="2" charset="0"/>
              </a:rPr>
              <a:t>2</a:t>
            </a:r>
            <a:r>
              <a:rPr lang="en-US" sz="3200" dirty="0">
                <a:latin typeface="Helvetica" pitchFamily="2" charset="0"/>
              </a:rPr>
              <a:t>Sorbonne Université, Faculty of Sciences and Engineering, Paris, France,</a:t>
            </a:r>
          </a:p>
          <a:p>
            <a:pPr algn="ctr"/>
            <a:r>
              <a:rPr lang="en-US" sz="3200" baseline="30000" dirty="0">
                <a:latin typeface="Helvetica" pitchFamily="2" charset="0"/>
              </a:rPr>
              <a:t>3</a:t>
            </a:r>
            <a:r>
              <a:rPr lang="en-US" sz="3200" dirty="0">
                <a:latin typeface="Helvetica" pitchFamily="2" charset="0"/>
              </a:rPr>
              <a:t>Paris Brain Institute (ICM), Aramis Lab, Faculty of Health Sciences, Paris, France.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012C2EE-6CF2-42AB-F81D-8134620D55E3}"/>
              </a:ext>
            </a:extLst>
          </p:cNvPr>
          <p:cNvSpPr txBox="1"/>
          <p:nvPr/>
        </p:nvSpPr>
        <p:spPr>
          <a:xfrm>
            <a:off x="12095243" y="9214206"/>
            <a:ext cx="6119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Single Nucleotide Polymorphism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AD7FD43-4223-2CC6-2618-8EB1C6A9468A}"/>
              </a:ext>
            </a:extLst>
          </p:cNvPr>
          <p:cNvSpPr txBox="1"/>
          <p:nvPr/>
        </p:nvSpPr>
        <p:spPr>
          <a:xfrm>
            <a:off x="953522" y="15931478"/>
            <a:ext cx="6119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Brain Structure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42F4FE9-641F-082A-255D-2A0E8AF7E54F}"/>
              </a:ext>
            </a:extLst>
          </p:cNvPr>
          <p:cNvSpPr txBox="1"/>
          <p:nvPr/>
        </p:nvSpPr>
        <p:spPr>
          <a:xfrm>
            <a:off x="23498725" y="15524472"/>
            <a:ext cx="6119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Psychiatric Illness Risk</a:t>
            </a:r>
          </a:p>
        </p:txBody>
      </p: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E5D0AFCE-2DE0-665D-DC4E-34B06AFDFBB9}"/>
              </a:ext>
            </a:extLst>
          </p:cNvPr>
          <p:cNvCxnSpPr>
            <a:cxnSpLocks/>
            <a:stCxn id="107" idx="1"/>
            <a:endCxn id="1025" idx="0"/>
          </p:cNvCxnSpPr>
          <p:nvPr/>
        </p:nvCxnSpPr>
        <p:spPr>
          <a:xfrm rot="10800000" flipV="1">
            <a:off x="4048341" y="9999036"/>
            <a:ext cx="8046903" cy="5286878"/>
          </a:xfrm>
          <a:prstGeom prst="bentConnector2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Elbow Connector 1031">
            <a:extLst>
              <a:ext uri="{FF2B5EF4-FFF2-40B4-BE49-F238E27FC236}">
                <a16:creationId xmlns:a16="http://schemas.microsoft.com/office/drawing/2014/main" id="{D7FDFE2D-33B1-AC6A-A4E2-F15B0451339F}"/>
              </a:ext>
            </a:extLst>
          </p:cNvPr>
          <p:cNvCxnSpPr>
            <a:cxnSpLocks/>
            <a:stCxn id="107" idx="3"/>
            <a:endCxn id="1027" idx="0"/>
          </p:cNvCxnSpPr>
          <p:nvPr/>
        </p:nvCxnSpPr>
        <p:spPr>
          <a:xfrm>
            <a:off x="18214689" y="9999036"/>
            <a:ext cx="8343759" cy="5122575"/>
          </a:xfrm>
          <a:prstGeom prst="bentConnector2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AFF0DC2-B076-69D9-D12B-E9A1BB2DEEC2}"/>
              </a:ext>
            </a:extLst>
          </p:cNvPr>
          <p:cNvGrpSpPr/>
          <p:nvPr/>
        </p:nvGrpSpPr>
        <p:grpSpPr>
          <a:xfrm>
            <a:off x="9991671" y="12501219"/>
            <a:ext cx="3881517" cy="5215434"/>
            <a:chOff x="9970342" y="10759412"/>
            <a:chExt cx="3881517" cy="5215434"/>
          </a:xfrm>
        </p:grpSpPr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0E98B3CB-264E-8034-293F-75B6D62B9E02}"/>
                </a:ext>
              </a:extLst>
            </p:cNvPr>
            <p:cNvGrpSpPr/>
            <p:nvPr/>
          </p:nvGrpSpPr>
          <p:grpSpPr>
            <a:xfrm>
              <a:off x="9970342" y="10759412"/>
              <a:ext cx="3881517" cy="5215434"/>
              <a:chOff x="9587345" y="11416146"/>
              <a:chExt cx="4656791" cy="6538876"/>
            </a:xfrm>
          </p:grpSpPr>
          <p:sp>
            <p:nvSpPr>
              <p:cNvPr id="1038" name="Oval 1037">
                <a:extLst>
                  <a:ext uri="{FF2B5EF4-FFF2-40B4-BE49-F238E27FC236}">
                    <a16:creationId xmlns:a16="http://schemas.microsoft.com/office/drawing/2014/main" id="{ADDD8EB4-EB09-231E-DAE7-5D7BBD704E20}"/>
                  </a:ext>
                </a:extLst>
              </p:cNvPr>
              <p:cNvSpPr/>
              <p:nvPr/>
            </p:nvSpPr>
            <p:spPr>
              <a:xfrm>
                <a:off x="9587345" y="11416146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9" name="Oval 1038">
                <a:extLst>
                  <a:ext uri="{FF2B5EF4-FFF2-40B4-BE49-F238E27FC236}">
                    <a16:creationId xmlns:a16="http://schemas.microsoft.com/office/drawing/2014/main" id="{80C16CD1-94CF-E8E1-9239-E7FCE1DB3B4B}"/>
                  </a:ext>
                </a:extLst>
              </p:cNvPr>
              <p:cNvSpPr/>
              <p:nvPr/>
            </p:nvSpPr>
            <p:spPr>
              <a:xfrm>
                <a:off x="9587345" y="12528665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0" name="Oval 1039">
                <a:extLst>
                  <a:ext uri="{FF2B5EF4-FFF2-40B4-BE49-F238E27FC236}">
                    <a16:creationId xmlns:a16="http://schemas.microsoft.com/office/drawing/2014/main" id="{FDC39D2A-30B3-51BB-08A4-04D4F4C6E988}"/>
                  </a:ext>
                </a:extLst>
              </p:cNvPr>
              <p:cNvSpPr/>
              <p:nvPr/>
            </p:nvSpPr>
            <p:spPr>
              <a:xfrm>
                <a:off x="9587345" y="13641184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TextBox 1040">
                <a:extLst>
                  <a:ext uri="{FF2B5EF4-FFF2-40B4-BE49-F238E27FC236}">
                    <a16:creationId xmlns:a16="http://schemas.microsoft.com/office/drawing/2014/main" id="{7F0EE7C7-1D8D-D3D5-3D77-339DE1F5CAD1}"/>
                  </a:ext>
                </a:extLst>
              </p:cNvPr>
              <p:cNvSpPr txBox="1"/>
              <p:nvPr/>
            </p:nvSpPr>
            <p:spPr>
              <a:xfrm>
                <a:off x="9839299" y="14555583"/>
                <a:ext cx="693320" cy="2308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  <a:p>
                <a:r>
                  <a:rPr lang="en-US" sz="4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  <a:p>
                <a:r>
                  <a:rPr lang="en-US" sz="4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9A6BC671-9396-6114-AD02-F460A8E0D6DD}"/>
                  </a:ext>
                </a:extLst>
              </p:cNvPr>
              <p:cNvSpPr/>
              <p:nvPr/>
            </p:nvSpPr>
            <p:spPr>
              <a:xfrm>
                <a:off x="9617626" y="17040622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BDADE600-80A3-1544-6BC1-E7E7C3AE0861}"/>
                  </a:ext>
                </a:extLst>
              </p:cNvPr>
              <p:cNvSpPr/>
              <p:nvPr/>
            </p:nvSpPr>
            <p:spPr>
              <a:xfrm>
                <a:off x="13329143" y="13641182"/>
                <a:ext cx="914993" cy="9144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48" name="Straight Arrow Connector 1047">
              <a:extLst>
                <a:ext uri="{FF2B5EF4-FFF2-40B4-BE49-F238E27FC236}">
                  <a16:creationId xmlns:a16="http://schemas.microsoft.com/office/drawing/2014/main" id="{478EC7C0-9024-E11F-84EF-323C27045649}"/>
                </a:ext>
              </a:extLst>
            </p:cNvPr>
            <p:cNvCxnSpPr>
              <a:cxnSpLocks/>
              <a:endCxn id="1043" idx="1"/>
            </p:cNvCxnSpPr>
            <p:nvPr/>
          </p:nvCxnSpPr>
          <p:spPr>
            <a:xfrm>
              <a:off x="10733004" y="11268242"/>
              <a:ext cx="2467881" cy="1372676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0B879640-931E-1FC8-0C4D-F7DEEB6C7D2E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362" y="12157586"/>
              <a:ext cx="2424415" cy="60596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Arrow Connector 1053">
              <a:extLst>
                <a:ext uri="{FF2B5EF4-FFF2-40B4-BE49-F238E27FC236}">
                  <a16:creationId xmlns:a16="http://schemas.microsoft.com/office/drawing/2014/main" id="{918EB4DF-6BF7-A9C5-CB09-33E9E558B3F7}"/>
                </a:ext>
              </a:extLst>
            </p:cNvPr>
            <p:cNvCxnSpPr>
              <a:cxnSpLocks/>
              <a:stCxn id="1040" idx="6"/>
              <a:endCxn id="1043" idx="2"/>
            </p:cNvCxnSpPr>
            <p:nvPr/>
          </p:nvCxnSpPr>
          <p:spPr>
            <a:xfrm flipV="1">
              <a:off x="10733005" y="12898775"/>
              <a:ext cx="2356191" cy="1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Arrow Connector 1056">
              <a:extLst>
                <a:ext uri="{FF2B5EF4-FFF2-40B4-BE49-F238E27FC236}">
                  <a16:creationId xmlns:a16="http://schemas.microsoft.com/office/drawing/2014/main" id="{83B5C995-8F5D-69D8-F3D5-1750C621721B}"/>
                </a:ext>
              </a:extLst>
            </p:cNvPr>
            <p:cNvCxnSpPr>
              <a:cxnSpLocks/>
              <a:stCxn id="1042" idx="7"/>
              <a:endCxn id="1043" idx="3"/>
            </p:cNvCxnSpPr>
            <p:nvPr/>
          </p:nvCxnSpPr>
          <p:spPr>
            <a:xfrm flipV="1">
              <a:off x="10646556" y="13156631"/>
              <a:ext cx="2554329" cy="2195694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6EC04769-B5FB-D0D6-F697-21F85D4EB855}"/>
              </a:ext>
            </a:extLst>
          </p:cNvPr>
          <p:cNvSpPr/>
          <p:nvPr/>
        </p:nvSpPr>
        <p:spPr>
          <a:xfrm>
            <a:off x="9104369" y="12013567"/>
            <a:ext cx="13060751" cy="9113520"/>
          </a:xfrm>
          <a:prstGeom prst="rect">
            <a:avLst/>
          </a:prstGeom>
          <a:noFill/>
          <a:ln w="88900">
            <a:solidFill>
              <a:srgbClr val="005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0" name="Picture 1079">
            <a:extLst>
              <a:ext uri="{FF2B5EF4-FFF2-40B4-BE49-F238E27FC236}">
                <a16:creationId xmlns:a16="http://schemas.microsoft.com/office/drawing/2014/main" id="{EB2597B8-3B2F-9CB0-51F2-3FFDD5C8B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1920" y="12640924"/>
            <a:ext cx="7158446" cy="3984112"/>
          </a:xfrm>
          <a:prstGeom prst="rect">
            <a:avLst/>
          </a:prstGeom>
        </p:spPr>
      </p:pic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1D1EDF49-9FC6-0E0C-EC0D-EED49BE6A7ED}"/>
              </a:ext>
            </a:extLst>
          </p:cNvPr>
          <p:cNvCxnSpPr>
            <a:cxnSpLocks/>
          </p:cNvCxnSpPr>
          <p:nvPr/>
        </p:nvCxnSpPr>
        <p:spPr>
          <a:xfrm>
            <a:off x="7139902" y="16321745"/>
            <a:ext cx="1941073" cy="0"/>
          </a:xfrm>
          <a:prstGeom prst="straightConnector1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Arrow Connector 1085">
            <a:extLst>
              <a:ext uri="{FF2B5EF4-FFF2-40B4-BE49-F238E27FC236}">
                <a16:creationId xmlns:a16="http://schemas.microsoft.com/office/drawing/2014/main" id="{51BD8F9B-8D2D-6526-DD16-5BE40287D7B1}"/>
              </a:ext>
            </a:extLst>
          </p:cNvPr>
          <p:cNvCxnSpPr>
            <a:cxnSpLocks/>
          </p:cNvCxnSpPr>
          <p:nvPr/>
        </p:nvCxnSpPr>
        <p:spPr>
          <a:xfrm>
            <a:off x="22165120" y="16210323"/>
            <a:ext cx="1333605" cy="0"/>
          </a:xfrm>
          <a:prstGeom prst="straightConnector1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9" name="Picture 1088">
            <a:extLst>
              <a:ext uri="{FF2B5EF4-FFF2-40B4-BE49-F238E27FC236}">
                <a16:creationId xmlns:a16="http://schemas.microsoft.com/office/drawing/2014/main" id="{0B1301D6-D0B0-9B47-064D-14E159AA4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205" y="22792205"/>
            <a:ext cx="11167936" cy="5837017"/>
          </a:xfrm>
          <a:prstGeom prst="rect">
            <a:avLst/>
          </a:prstGeom>
        </p:spPr>
      </p:pic>
      <p:pic>
        <p:nvPicPr>
          <p:cNvPr id="1091" name="Picture 1090">
            <a:extLst>
              <a:ext uri="{FF2B5EF4-FFF2-40B4-BE49-F238E27FC236}">
                <a16:creationId xmlns:a16="http://schemas.microsoft.com/office/drawing/2014/main" id="{C69F625C-8F20-8457-F358-B2BFF2767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9770" y="23407504"/>
            <a:ext cx="8282200" cy="4149534"/>
          </a:xfrm>
          <a:prstGeom prst="rect">
            <a:avLst/>
          </a:prstGeom>
        </p:spPr>
      </p:pic>
      <p:pic>
        <p:nvPicPr>
          <p:cNvPr id="1093" name="Picture 1092">
            <a:extLst>
              <a:ext uri="{FF2B5EF4-FFF2-40B4-BE49-F238E27FC236}">
                <a16:creationId xmlns:a16="http://schemas.microsoft.com/office/drawing/2014/main" id="{024E2023-FA4F-3D87-9BC3-FA9C6AEF1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01970" y="23686304"/>
            <a:ext cx="8571499" cy="3583168"/>
          </a:xfrm>
          <a:prstGeom prst="rect">
            <a:avLst/>
          </a:prstGeom>
        </p:spPr>
      </p:pic>
      <p:pic>
        <p:nvPicPr>
          <p:cNvPr id="1095" name="Picture 1094">
            <a:extLst>
              <a:ext uri="{FF2B5EF4-FFF2-40B4-BE49-F238E27FC236}">
                <a16:creationId xmlns:a16="http://schemas.microsoft.com/office/drawing/2014/main" id="{B87D3823-34A9-07AF-27D1-2BE0B765E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6769" y="23230669"/>
            <a:ext cx="9338953" cy="787974"/>
          </a:xfrm>
          <a:prstGeom prst="rect">
            <a:avLst/>
          </a:prstGeom>
        </p:spPr>
      </p:pic>
      <p:pic>
        <p:nvPicPr>
          <p:cNvPr id="1097" name="Picture 1096">
            <a:extLst>
              <a:ext uri="{FF2B5EF4-FFF2-40B4-BE49-F238E27FC236}">
                <a16:creationId xmlns:a16="http://schemas.microsoft.com/office/drawing/2014/main" id="{2529A3A0-5BA1-9666-0A46-4C45B09610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57" y="22149073"/>
            <a:ext cx="6121400" cy="558800"/>
          </a:xfrm>
          <a:prstGeom prst="rect">
            <a:avLst/>
          </a:prstGeom>
        </p:spPr>
      </p:pic>
      <p:pic>
        <p:nvPicPr>
          <p:cNvPr id="1099" name="Picture 1098">
            <a:extLst>
              <a:ext uri="{FF2B5EF4-FFF2-40B4-BE49-F238E27FC236}">
                <a16:creationId xmlns:a16="http://schemas.microsoft.com/office/drawing/2014/main" id="{93158763-9B97-ED2D-8B56-143227BB87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45387" y="22888217"/>
            <a:ext cx="7331006" cy="684904"/>
          </a:xfrm>
          <a:prstGeom prst="rect">
            <a:avLst/>
          </a:prstGeom>
        </p:spPr>
      </p:pic>
      <p:sp>
        <p:nvSpPr>
          <p:cNvPr id="1101" name="Rectangle 1100">
            <a:extLst>
              <a:ext uri="{FF2B5EF4-FFF2-40B4-BE49-F238E27FC236}">
                <a16:creationId xmlns:a16="http://schemas.microsoft.com/office/drawing/2014/main" id="{17645478-26CF-64CC-AAE9-E86034B69823}"/>
              </a:ext>
            </a:extLst>
          </p:cNvPr>
          <p:cNvSpPr/>
          <p:nvPr/>
        </p:nvSpPr>
        <p:spPr>
          <a:xfrm>
            <a:off x="214545" y="21565684"/>
            <a:ext cx="29838183" cy="7384275"/>
          </a:xfrm>
          <a:prstGeom prst="rect">
            <a:avLst/>
          </a:prstGeom>
          <a:noFill/>
          <a:ln w="88900">
            <a:solidFill>
              <a:srgbClr val="005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F81B6905-D54A-A4E9-A9C9-86F920A8A370}"/>
              </a:ext>
            </a:extLst>
          </p:cNvPr>
          <p:cNvSpPr/>
          <p:nvPr/>
        </p:nvSpPr>
        <p:spPr>
          <a:xfrm>
            <a:off x="920114" y="21006884"/>
            <a:ext cx="2114579" cy="558800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DATA</a:t>
            </a:r>
            <a:endParaRPr lang="en-US" b="1" dirty="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7709C8C-DBC8-3764-2A61-175C6A15EB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9060" y="10300971"/>
            <a:ext cx="2501900" cy="1181100"/>
          </a:xfrm>
          <a:prstGeom prst="rect">
            <a:avLst/>
          </a:prstGeom>
        </p:spPr>
      </p:pic>
      <p:pic>
        <p:nvPicPr>
          <p:cNvPr id="1106" name="Picture 1105">
            <a:extLst>
              <a:ext uri="{FF2B5EF4-FFF2-40B4-BE49-F238E27FC236}">
                <a16:creationId xmlns:a16="http://schemas.microsoft.com/office/drawing/2014/main" id="{8A7FB95C-6F49-8F85-DB6B-9671947B98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50773" y="10181726"/>
            <a:ext cx="2070100" cy="1346200"/>
          </a:xfrm>
          <a:prstGeom prst="rect">
            <a:avLst/>
          </a:prstGeom>
        </p:spPr>
      </p:pic>
      <p:sp>
        <p:nvSpPr>
          <p:cNvPr id="1107" name="Rectangle 1106">
            <a:extLst>
              <a:ext uri="{FF2B5EF4-FFF2-40B4-BE49-F238E27FC236}">
                <a16:creationId xmlns:a16="http://schemas.microsoft.com/office/drawing/2014/main" id="{CEE6ECFF-EB90-C79A-C281-A9E78082AC5F}"/>
              </a:ext>
            </a:extLst>
          </p:cNvPr>
          <p:cNvSpPr/>
          <p:nvPr/>
        </p:nvSpPr>
        <p:spPr>
          <a:xfrm>
            <a:off x="752638" y="29260533"/>
            <a:ext cx="4146261" cy="558800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EXPERIMENTS</a:t>
            </a:r>
            <a:endParaRPr lang="en-US" b="1" dirty="0"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AB998411-5676-AEDE-59D4-A55911A43BB1}"/>
              </a:ext>
            </a:extLst>
          </p:cNvPr>
          <p:cNvSpPr/>
          <p:nvPr/>
        </p:nvSpPr>
        <p:spPr>
          <a:xfrm>
            <a:off x="752637" y="35324437"/>
            <a:ext cx="4146262" cy="18203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Filter on psychiatric risk significance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793CC80C-1DDA-DA95-171D-328CDFB53A57}"/>
              </a:ext>
            </a:extLst>
          </p:cNvPr>
          <p:cNvSpPr/>
          <p:nvPr/>
        </p:nvSpPr>
        <p:spPr>
          <a:xfrm>
            <a:off x="752637" y="32914134"/>
            <a:ext cx="4146261" cy="18203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Filter on psychiatric risk significance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8153C095-53E3-E142-A688-260AA0FC0B64}"/>
              </a:ext>
            </a:extLst>
          </p:cNvPr>
          <p:cNvSpPr/>
          <p:nvPr/>
        </p:nvSpPr>
        <p:spPr>
          <a:xfrm>
            <a:off x="13423353" y="30511016"/>
            <a:ext cx="7653510" cy="18203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Filter on Brain Structure significance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65D745EA-2395-050F-92B0-6D632B6F3C6A}"/>
              </a:ext>
            </a:extLst>
          </p:cNvPr>
          <p:cNvSpPr/>
          <p:nvPr/>
        </p:nvSpPr>
        <p:spPr>
          <a:xfrm>
            <a:off x="5388511" y="30511016"/>
            <a:ext cx="7653511" cy="18203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Filter on Brain Structure significance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47253A78-000F-DEF5-B5B0-AADB641D201C}"/>
              </a:ext>
            </a:extLst>
          </p:cNvPr>
          <p:cNvSpPr/>
          <p:nvPr/>
        </p:nvSpPr>
        <p:spPr>
          <a:xfrm>
            <a:off x="5371507" y="32914134"/>
            <a:ext cx="7653510" cy="1820316"/>
          </a:xfrm>
          <a:prstGeom prst="rect">
            <a:avLst/>
          </a:prstGeom>
          <a:solidFill>
            <a:srgbClr val="A3BD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1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Baseline with all data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Worst performance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9BC221A2-14F5-C0A4-CF87-96CD196C3958}"/>
              </a:ext>
            </a:extLst>
          </p:cNvPr>
          <p:cNvSpPr/>
          <p:nvPr/>
        </p:nvSpPr>
        <p:spPr>
          <a:xfrm>
            <a:off x="5371507" y="35317252"/>
            <a:ext cx="7653510" cy="1820316"/>
          </a:xfrm>
          <a:prstGeom prst="rect">
            <a:avLst/>
          </a:prstGeom>
          <a:solidFill>
            <a:srgbClr val="005A9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2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Increase of signal in psychiatric risk</a:t>
            </a:r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C024560B-E223-5B30-B0FA-3D5A4E2C57AF}"/>
              </a:ext>
            </a:extLst>
          </p:cNvPr>
          <p:cNvSpPr/>
          <p:nvPr/>
        </p:nvSpPr>
        <p:spPr>
          <a:xfrm>
            <a:off x="13423011" y="32914134"/>
            <a:ext cx="7653510" cy="1820316"/>
          </a:xfrm>
          <a:prstGeom prst="rect">
            <a:avLst/>
          </a:prstGeom>
          <a:solidFill>
            <a:srgbClr val="A3BD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3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Increase of signal in brain structure</a:t>
            </a:r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94B23271-AA60-EFA6-4674-E45468F8625F}"/>
              </a:ext>
            </a:extLst>
          </p:cNvPr>
          <p:cNvSpPr/>
          <p:nvPr/>
        </p:nvSpPr>
        <p:spPr>
          <a:xfrm>
            <a:off x="13423011" y="35317252"/>
            <a:ext cx="7653510" cy="1820316"/>
          </a:xfrm>
          <a:prstGeom prst="rect">
            <a:avLst/>
          </a:prstGeom>
          <a:solidFill>
            <a:srgbClr val="A3BD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4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 signal available</a:t>
            </a:r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56C15737-23C8-6EFB-61FF-D2B94EB465E9}"/>
              </a:ext>
            </a:extLst>
          </p:cNvPr>
          <p:cNvSpPr/>
          <p:nvPr/>
        </p:nvSpPr>
        <p:spPr>
          <a:xfrm>
            <a:off x="21481862" y="30511016"/>
            <a:ext cx="8067805" cy="1820316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Questions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F2262958-8D6A-2D35-3E02-D2A29DEE7825}"/>
              </a:ext>
            </a:extLst>
          </p:cNvPr>
          <p:cNvSpPr/>
          <p:nvPr/>
        </p:nvSpPr>
        <p:spPr>
          <a:xfrm>
            <a:off x="21481863" y="32914134"/>
            <a:ext cx="8067804" cy="1820316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Does more signal in brain structure lead to better performance?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51C4829B-8203-F57B-7690-ED00AB86248A}"/>
              </a:ext>
            </a:extLst>
          </p:cNvPr>
          <p:cNvSpPr/>
          <p:nvPr/>
        </p:nvSpPr>
        <p:spPr>
          <a:xfrm>
            <a:off x="21481862" y="35324437"/>
            <a:ext cx="8067803" cy="1820316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Does more signal in psychiatric risk lead to better performance?</a:t>
            </a:r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50848D1E-C9E3-33F3-1B6E-32877ED1DE37}"/>
              </a:ext>
            </a:extLst>
          </p:cNvPr>
          <p:cNvSpPr/>
          <p:nvPr/>
        </p:nvSpPr>
        <p:spPr>
          <a:xfrm>
            <a:off x="214545" y="29819333"/>
            <a:ext cx="29838183" cy="7710350"/>
          </a:xfrm>
          <a:prstGeom prst="rect">
            <a:avLst/>
          </a:prstGeom>
          <a:noFill/>
          <a:ln w="88900">
            <a:solidFill>
              <a:srgbClr val="005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0" name="Picture 8">
            <a:extLst>
              <a:ext uri="{FF2B5EF4-FFF2-40B4-BE49-F238E27FC236}">
                <a16:creationId xmlns:a16="http://schemas.microsoft.com/office/drawing/2014/main" id="{986FB4E4-AFBA-C2C9-7FE6-244B1F522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1973" y="807342"/>
            <a:ext cx="3313493" cy="90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1" name="Picture 10">
            <a:extLst>
              <a:ext uri="{FF2B5EF4-FFF2-40B4-BE49-F238E27FC236}">
                <a16:creationId xmlns:a16="http://schemas.microsoft.com/office/drawing/2014/main" id="{706F7545-6C96-E243-E6D7-A8DB7CA46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9896" y="593564"/>
            <a:ext cx="3175000" cy="12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2" name="Picture 12" descr="Severe Brain Injury - Paris Brain Institute America">
            <a:extLst>
              <a:ext uri="{FF2B5EF4-FFF2-40B4-BE49-F238E27FC236}">
                <a16:creationId xmlns:a16="http://schemas.microsoft.com/office/drawing/2014/main" id="{37490A1E-A8EA-C4A4-764D-1E191E852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160" y="593565"/>
            <a:ext cx="4147188" cy="12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627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29867</TotalTime>
  <Words>502</Words>
  <Application>Microsoft Macintosh PowerPoint</Application>
  <PresentationFormat>Custom</PresentationFormat>
  <Paragraphs>70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 LOPEZ CARRASCO</dc:creator>
  <cp:lastModifiedBy>Leon  ACKERMANN</cp:lastModifiedBy>
  <cp:revision>178</cp:revision>
  <dcterms:created xsi:type="dcterms:W3CDTF">2026-04-02T06:43:44Z</dcterms:created>
  <dcterms:modified xsi:type="dcterms:W3CDTF">2026-06-02T19:35:17Z</dcterms:modified>
</cp:coreProperties>
</file>